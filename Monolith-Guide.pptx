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الرصيد الفعلي</c:v>
                </c:pt>
              </c:strCache>
            </c:strRef>
          </c:tx>
          <c:spPr>
            <a:solidFill>
              <a:srgbClr val="F5F5F5">
                <a:alpha val="100000"/>
              </a:srgbClr>
            </a:solidFill>
            <a:ln w="38100" cap="flat">
              <a:solidFill>
                <a:srgbClr val="F5F5F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5F5F5"/>
              </a:solidFill>
              <a:ln w="9525" cap="flat">
                <a:solidFill>
                  <a:srgbClr val="F5F5F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فبراير</c:v>
                  </c:pt>
                  <c:pt idx="1">
                    <c:v>مارس</c:v>
                  </c:pt>
                  <c:pt idx="2">
                    <c:v>أبريل</c:v>
                  </c:pt>
                  <c:pt idx="3">
                    <c:v>مايو</c:v>
                  </c:pt>
                  <c:pt idx="4">
                    <c:v>يونيو</c:v>
                  </c:pt>
                  <c:pt idx="5">
                    <c:v>يوليو</c:v>
                  </c:pt>
                  <c:pt idx="6">
                    <c:v>أغسطس</c:v>
                  </c:pt>
                  <c:pt idx="7">
                    <c:v>سبتمبر</c:v>
                  </c:pt>
                  <c:pt idx="8">
                    <c:v>أكتوبر</c:v>
                  </c:pt>
                  <c:pt idx="9">
                    <c:v>نوفمبر</c:v>
                  </c:pt>
                  <c:pt idx="10">
                    <c:v>ديسمبر</c:v>
                  </c:pt>
                  <c:pt idx="11">
                    <c:v>يناير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7705</c:v>
                </c:pt>
                <c:pt idx="1">
                  <c:v>5500</c:v>
                </c:pt>
                <c:pt idx="2">
                  <c:v>4910</c:v>
                </c:pt>
                <c:pt idx="3">
                  <c:v>2450</c:v>
                </c:pt>
                <c:pt idx="4">
                  <c:v>2960</c:v>
                </c:pt>
                <c:pt idx="5">
                  <c:v>2110</c:v>
                </c:pt>
                <c:pt idx="6">
                  <c:v>1450</c:v>
                </c:pt>
                <c:pt idx="7">
                  <c:v>4160</c:v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الخط المتوقع</c:v>
                </c:pt>
              </c:strCache>
            </c:strRef>
          </c:tx>
          <c:spPr>
            <a:solidFill>
              <a:srgbClr val="FFB000">
                <a:alpha val="100000"/>
              </a:srgbClr>
            </a:solidFill>
            <a:ln w="38100" cap="flat">
              <a:solidFill>
                <a:srgbClr val="FFB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B000"/>
              </a:solidFill>
              <a:ln w="9525" cap="flat">
                <a:solidFill>
                  <a:srgbClr val="FFB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فبراير</c:v>
                  </c:pt>
                  <c:pt idx="1">
                    <c:v>مارس</c:v>
                  </c:pt>
                  <c:pt idx="2">
                    <c:v>أبريل</c:v>
                  </c:pt>
                  <c:pt idx="3">
                    <c:v>مايو</c:v>
                  </c:pt>
                  <c:pt idx="4">
                    <c:v>يونيو</c:v>
                  </c:pt>
                  <c:pt idx="5">
                    <c:v>يوليو</c:v>
                  </c:pt>
                  <c:pt idx="6">
                    <c:v>أغسطس</c:v>
                  </c:pt>
                  <c:pt idx="7">
                    <c:v>سبتمبر</c:v>
                  </c:pt>
                  <c:pt idx="8">
                    <c:v>أكتوبر</c:v>
                  </c:pt>
                  <c:pt idx="9">
                    <c:v>نوفمبر</c:v>
                  </c:pt>
                  <c:pt idx="10">
                    <c:v>ديسمبر</c:v>
                  </c:pt>
                  <c:pt idx="11">
                    <c:v>يناير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/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>4160</c:v>
                </c:pt>
                <c:pt idx="8">
                  <c:v>3178</c:v>
                </c:pt>
                <c:pt idx="9">
                  <c:v>2196</c:v>
                </c:pt>
                <c:pt idx="10">
                  <c:v>1214</c:v>
                </c:pt>
                <c:pt idx="11">
                  <c:v>232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32323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E6E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A0A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9A9A9A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0A0A0A"/>
    </a:solidFill>
    <a:ln w="12700" cap="flat">
      <a:solidFill>
        <a:srgbClr val="323232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مونوليث خزنة رقمية لإدارة تمويل الأندية الطلابية. الفكرة الأساسية: الشفافية — كل تعديل على النسب وكل توزيع للأموال مسجّل ولا يمكن حذفه.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المشكلة ليست تقنية بل مشكلة ثقة: الاتفاقات شفهية والسجلات مبعثرة.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أربعة أنظمة فرعية: الحصص، التدقيق، الحركات، ومعدل الصرف.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ثلاثة حسابات تجريبية جاهزة، بكلمة مرور واحدة: monolith2026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لوحة الخزنة تفتح بدليل بدء من أربع خطوات يمكن إخفاؤه.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النسب تُرسم كشريط أفقي صريح لا كرسم دائري — الفكرة أن يقرأ كبيان لا كرسم توضيحي.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الملف النموذجي يُنزَّل بترميز UTF-8 مع BOM حتى يفتحه Excel بالعربية بشكل صحيح.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نقطة مهمة أمام اللجنة: لا يوجد ادّعاء بربط فعلي مع ساما أو أي بنك.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الانحدار يُحسب على الأشهر المكتملة فقط — الشهر الجاري ناقص وسيُسطّح الميل لو أُدخل في الحساب.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سجل التدقيق هو آلية الثقة كلها: كل كتابة تمر بدالة واحدة تكتب القيد في المعاملة نفسها.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قاعدة البيانات تُنشأ وتُعبّأ ببيانات العرض تلقائيًا عند أول طلب — لا خطوة ترحيل.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هذه الشريحة مقصودة: المبالغة في وصف منتج مالي تُفقده الثقة التي بُني لأجلها.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شكرًا — الأسئلة مرحّب بها.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710367" y="1371600"/>
            <a:ext cx="914400" cy="9144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17275" y="1609344"/>
            <a:ext cx="100584" cy="438912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251460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MONOLITH  ·  V0.1  ·  DEMO BUILD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788920"/>
            <a:ext cx="1105783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6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مونوليث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388620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خزنة تمويل المشاريع الطلابية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944368" y="4526280"/>
            <a:ext cx="868039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إدارة شفافة لأموال الأندية الطلابية والمشاريع الناشئة — من يملك ماذا، وأين ذهب كل ريال، ومن وافق على ذلك ومتى.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5806440"/>
            <a:ext cx="11057839" cy="0"/>
          </a:xfrm>
          <a:prstGeom prst="line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66928" y="5943600"/>
            <a:ext cx="110578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E6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دليل الاستخدام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أموال النادي تُدار اليوم في مجموعات المحادثة وجداول البيانات المتفرقة.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1701" y="1938528"/>
            <a:ext cx="3503066" cy="269748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41741" y="2231136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8441741" y="2898648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أحد يعرف الرصيد الحقيقي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441741" y="3566160"/>
            <a:ext cx="2862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الإيصالات في الهواتف، والمصروفات في رؤوس الأعضاء، والرصيد رقم يقوله أمين الصندوق ولا يستطيع أحد التحقق منه.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4314" y="1938528"/>
            <a:ext cx="3503066" cy="269748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4354" y="2231136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664354" y="2898648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الاتفاقات شفهية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64354" y="3566160"/>
            <a:ext cx="2862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«اتفقنا أن نصيبك 30%» — ثم يتخرّج الأعضاء وتتغيّر اللجنة ولا يبقى أثر مكتوب لما اتُّفق عليه.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6928" y="1938528"/>
            <a:ext cx="3503066" cy="269748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2231136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86968" y="2898648"/>
            <a:ext cx="28629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الخلاف يظهر متأخرًا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3566160"/>
            <a:ext cx="286298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 أول توزيع حقيقي للأموال تظهر الخلافات، ولا يوجد سجل يفصل فيها لأن أحدًا لم يوثّق التغييرات.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486460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مونوليث يحوّل هذه الاتفاقات إلى سجل واحد لا يقبل الحذف.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هو مونوليث؟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57839" cy="1143000"/>
          </a:xfrm>
          <a:prstGeom prst="rect">
            <a:avLst/>
          </a:prstGeom>
          <a:solidFill>
            <a:srgbClr val="0D0D0D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691640"/>
            <a:ext cx="103263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تطبيق ويب عربي بالكامل يجمع أموال النادي وحصص أعضائه في مكان واحد، ويُسجّل كل تغيير باسم من أجراه ووقته.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052331" y="2898648"/>
            <a:ext cx="2572436" cy="233172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308363" y="3154680"/>
            <a:ext cx="206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308363" y="350215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 الحصص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308363" y="4014216"/>
            <a:ext cx="20603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نِسَب متفق عليها، يجب أن تساوي 100% بالضبط.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23864" y="2898648"/>
            <a:ext cx="2572436" cy="233172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79896" y="3154680"/>
            <a:ext cx="206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79896" y="350215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التدقيق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6479896" y="4014216"/>
            <a:ext cx="20603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سلسلة لا تقبل الحذف: من، ومتى، ومن أي قيمة إلى أي قيمة.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95396" y="2898648"/>
            <a:ext cx="2572436" cy="233172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51428" y="3154680"/>
            <a:ext cx="206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1428" y="350215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الحركات المالية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651428" y="4014216"/>
            <a:ext cx="20603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استيراد كشف الحساب، ولوحة تُحاكي الربط المصرفي.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2898648"/>
            <a:ext cx="2572436" cy="233172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3154680"/>
            <a:ext cx="20603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3502152"/>
            <a:ext cx="20603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معدل الصرف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014216"/>
            <a:ext cx="20603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كم شهرًا تكفي أموالك بمعدل صرفك الحالي.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لمن هذا التطبيق؟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251296" y="1417320"/>
            <a:ext cx="5373472" cy="178308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71336" y="1691640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CLUBS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571336" y="2039112"/>
            <a:ext cx="473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الأندية الطلابية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571336" y="2514600"/>
            <a:ext cx="473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الأندية التي تستلم مخصصًا من عمادة شؤون الطلاب وتجمع اشتراكات الأعضاء وتنفق على الفعاليات.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5373472" cy="178308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86968" y="1691640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SPIN-OFFS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86968" y="2039112"/>
            <a:ext cx="4733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المشاريع الناشئة من الجامعة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86968" y="2514600"/>
            <a:ext cx="4733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الفرق الطلابية التي تتحوّل إلى شركة وتحتاج توثيق حصص المؤسسين قبل أن تكبر المشكلة.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" y="356616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  ·  SEEDED DEMO ACCOUNTS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109509" y="3895344"/>
            <a:ext cx="351525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5541" y="4133088"/>
            <a:ext cx="3003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TREASURER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365541" y="4443984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أمين الصندوق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365541" y="4846320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يستورد الحركات ويعتمد التوزيعات.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38218" y="3895344"/>
            <a:ext cx="351525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94250" y="4133088"/>
            <a:ext cx="3003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94250" y="4443984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المؤسس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4594250" y="4846320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يضبط النسب ويراجع سجل التدقيق.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66928" y="3895344"/>
            <a:ext cx="3515258" cy="141732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4133088"/>
            <a:ext cx="30031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4443984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العضو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846320"/>
            <a:ext cx="30031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يطّلع على نصيبه وعلى الرصيد.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NAVIGATION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الشاشات الخمس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شريط تنقّل واحد أعلى الصفحة، ولكل شاشة مهمة واحدة.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574134" y="1938528"/>
            <a:ext cx="2050633" cy="2395728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93590" y="2176272"/>
            <a:ext cx="16117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793590" y="2724912"/>
            <a:ext cx="1611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VAULT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9793590" y="3035808"/>
            <a:ext cx="16117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الخزنة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793590" y="3694176"/>
            <a:ext cx="161172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الرصيد، سلامة النسب، المدة المتبقية، وآخر الحركات.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322332" y="1938528"/>
            <a:ext cx="2050633" cy="2395728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41788" y="2176272"/>
            <a:ext cx="16117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541788" y="2724912"/>
            <a:ext cx="1611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EQUITY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541788" y="3035808"/>
            <a:ext cx="16117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الحصص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541788" y="3694176"/>
            <a:ext cx="161172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وتعديل النسب، والتوزيع، وسجل التدقيق.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70531" y="1938528"/>
            <a:ext cx="2050633" cy="2395728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89987" y="2176272"/>
            <a:ext cx="16117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5289987" y="2724912"/>
            <a:ext cx="1611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5289987" y="3035808"/>
            <a:ext cx="16117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مزامنة البنك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89987" y="3694176"/>
            <a:ext cx="161172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تدفّق حركات مُحاكى يوضّح شكل الربط المصرفي.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818729" y="1938528"/>
            <a:ext cx="2050633" cy="2395728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38185" y="2176272"/>
            <a:ext cx="16117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3038185" y="2724912"/>
            <a:ext cx="1611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BURN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038185" y="3035808"/>
            <a:ext cx="16117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معدل الصرف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038185" y="3694176"/>
            <a:ext cx="161172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الرصيد التاريخي مقابل خط اتجاه متوقع.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66928" y="1938528"/>
            <a:ext cx="2050633" cy="2395728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86384" y="2176272"/>
            <a:ext cx="16117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6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786384" y="2724912"/>
            <a:ext cx="16117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786384" y="3035808"/>
            <a:ext cx="161172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استيراد البيانات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" y="3694176"/>
            <a:ext cx="161172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رفع كشف حسابك الحقيقي كملف CSV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459028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الترتيب أعلاه هو ترتيب الاستخدام الموصى به عند أول تشغيل.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01  ·  EQUITY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الأولى: اضبط بيان الحصص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يمكن توزيع أي مبلغ قبل أن يساوي مجموع النسب 100% بالضبط.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51296" y="1938528"/>
            <a:ext cx="5373472" cy="342900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71336" y="2212848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71336" y="2624328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افتح «سجل الحصص» واضغط «إضافة صاحب حصة».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71336" y="3172968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اكتب الاسم والصفة والنسبة المئوية.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71336" y="3721608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كرّر حتى يصل المجموع إلى 100%.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71336" y="4270248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راقب الشريط أسفل الجدول: يتحوّل إلى BALANCED عند الضبط.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1938528"/>
            <a:ext cx="5373472" cy="342900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2212848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  ·  EXAMPLE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63673" y="2596896"/>
            <a:ext cx="1656687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80325" y="2596896"/>
            <a:ext cx="1183348" cy="457200"/>
          </a:xfrm>
          <a:prstGeom prst="rect">
            <a:avLst/>
          </a:prstGeom>
          <a:solidFill>
            <a:srgbClr val="C8C8C8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33646" y="2596896"/>
            <a:ext cx="946678" cy="457200"/>
          </a:xfrm>
          <a:prstGeom prst="rect">
            <a:avLst/>
          </a:prstGeom>
          <a:solidFill>
            <a:srgbClr val="9E9E9E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23638" y="2596896"/>
            <a:ext cx="710009" cy="457200"/>
          </a:xfrm>
          <a:prstGeom prst="rect">
            <a:avLst/>
          </a:prstGeom>
          <a:solidFill>
            <a:srgbClr val="7A7A7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86968" y="2596896"/>
            <a:ext cx="236670" cy="457200"/>
          </a:xfrm>
          <a:prstGeom prst="rect">
            <a:avLst/>
          </a:prstGeom>
          <a:solidFill>
            <a:srgbClr val="5C5C5C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938528" y="3310128"/>
            <a:ext cx="368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عبدالرحمن القحطاني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86968" y="33101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35%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938528" y="3694176"/>
            <a:ext cx="368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نورة العتيبي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6941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938528" y="4078224"/>
            <a:ext cx="368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ريم الدوسري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07822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20%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938528" y="4462272"/>
            <a:ext cx="368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صندوق تشغيل الفعاليات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86968" y="446227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15%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938528" y="4846320"/>
            <a:ext cx="3681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احتياطي الطوارئ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86968" y="4846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5%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02  ·  IMPORT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الثانية: أدخل حركاتك المالية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البيانات الظاهرة عند أول تشغيل تجريبية. استبدلها ببياناتك من صفحة «استيراد البيانات».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51296" y="1938528"/>
            <a:ext cx="5373472" cy="315468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71336" y="2212848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71336" y="2624328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صدّر كشف حسابك من تطبيق البنك كملف CSV.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71336" y="3172968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افتح «استيراد البيانات» واضغط «اختر ملفًا».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71336" y="3721608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راجع المعاينة: كل صف مرفوض يظهر برقم سطره وسببه.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71336" y="4270248"/>
            <a:ext cx="473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اضغط «اعتماد الاستيراد» — لا يُكتب شيء قبل ذلك.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1938528"/>
            <a:ext cx="5373472" cy="315468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2212848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FORMAT  ·  CSV OR JSON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24876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886968" y="2651760"/>
            <a:ext cx="322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inflow أو outflow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24876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3035808"/>
            <a:ext cx="322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أكبر من صفر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248760" y="34198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3419856"/>
            <a:ext cx="322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 الحركة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4248760" y="38039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3803904"/>
            <a:ext cx="322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رقم الحساب — اختياري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248760" y="4187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4187952"/>
            <a:ext cx="3224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YYYY-MM-DD — اختياري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4681728"/>
            <a:ext cx="473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يوجد ملف نموذجي جاهز للتنزيل داخل الصفحة نفسها.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03  ·  SYNC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الثالثة: لوحة المزامنة المصرفية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11057839" cy="1051560"/>
          </a:xfrm>
          <a:prstGeom prst="rect">
            <a:avLst/>
          </a:prstGeom>
          <a:solidFill>
            <a:srgbClr val="1A1200"/>
          </a:solidFill>
          <a:ln w="19050">
            <a:solidFill>
              <a:srgbClr val="FFB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6184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SIMULATED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1600200"/>
            <a:ext cx="81317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بيئة تجريبية — تُحاكي بنية بيانات الربط المصرفي المفتوح.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1984248"/>
            <a:ext cx="1032631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يوجد أي اتصال بأي بنك أو مؤسسة مالية. جميع الحركات في هذه اللوحة مُولَّدة محليًا لغرض العرض فقط.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121701" y="2788920"/>
            <a:ext cx="3503066" cy="219456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96021" y="3044952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396021" y="3392424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المطابقة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396021" y="3849624"/>
            <a:ext cx="29544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حركة تمر بثلاث حالات بالترتيب، حالة واحدة في كل تحديث: PENDING ثم SYNCED ثم VERIFIED.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44314" y="2788920"/>
            <a:ext cx="3503066" cy="219456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8634" y="3044952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 FEED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4618634" y="3392424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تدفّق مباشر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618634" y="3849624"/>
            <a:ext cx="29544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اللوحة تسحب تحديثًا كل 7 ثوانٍ، ويمكن إيقافه واستئنافه بزر واحد.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2788920"/>
            <a:ext cx="3503066" cy="219456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044952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BOUNDED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392424"/>
            <a:ext cx="29544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محدود بسقف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3849624"/>
            <a:ext cx="29544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تتجاوز الحركات المُولَّدة 15 حركة؛ تُحذف الأقدم عند وصول الأحدث حتى لا تطغى على بياناتك.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21208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الغرض من هذه اللوحة توضيح شكل الربط المصرفي المفتوح مستقبلًا — لا ادّعاء وجوده اليوم.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04  ·  BURN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الرابعة: راقب معدل الصرف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توقّع اتجاهي مبني على انحدار خطي بسيط للأشهر المكتملة — ليس نموذج ذكاء اصطناعي ولا ضمانًا لأي نتيجة.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938528"/>
          <a:ext cx="7857439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8698687" y="1938528"/>
            <a:ext cx="292608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18143" y="2084832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BALANCE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070287" y="2286000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4,160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918143" y="2322576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ريال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8698687" y="2962656"/>
            <a:ext cx="292608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18143" y="310896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BURN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0070287" y="3310128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982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918143" y="3346704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ريال / شهر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698687" y="3986784"/>
            <a:ext cx="2926080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918143" y="4133088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RUNWAY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070287" y="4334256"/>
            <a:ext cx="13350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~4.2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918143" y="4370832"/>
            <a:ext cx="1060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شهر متبقٍ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66928" y="5093208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عندما تقل المدة المتبقية عن ثلاثة أشهر، تتحوّل البطاقة ويظهر تحذير في أعلى الصفحة.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05  ·  DISBURSE + AUDIT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الخطوة الخامسة: وزّع التمويل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التوزيع محجوب ما لم يكن مجموع النسب 100% — والحجب مفروض في الخادم لا في الواجهة فقط.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51296" y="1938528"/>
            <a:ext cx="5373472" cy="324612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571336" y="2212848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571336" y="2596896"/>
            <a:ext cx="473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اكتب المبلغ ووصف التوزيع.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71336" y="3072384"/>
            <a:ext cx="473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تظهر معاينة فورية بنصيب كل صاحب حصة.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71336" y="3547872"/>
            <a:ext cx="473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اضغط «اعتماد التوزيع».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71336" y="4023360"/>
            <a:ext cx="473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يُكتب قيد في سجل التدقيق باسمك وتاريخه.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71336" y="4681728"/>
            <a:ext cx="473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1,200 ريال تُقسم إلى 420 و300 و240 و180 و60 ريالًا.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1938528"/>
            <a:ext cx="5373472" cy="324612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2212848"/>
            <a:ext cx="473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AUDIT CHAIN  ·  APPEND ONLY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3200" y="2670048"/>
            <a:ext cx="82296" cy="82296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6968" y="2596896"/>
            <a:ext cx="445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2596896"/>
            <a:ext cx="445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نورة العتيبي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86968" y="2852928"/>
            <a:ext cx="445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تعديل نسبة «عبدالرحمن القحطاني»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" y="307238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← 35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3200" y="3346704"/>
            <a:ext cx="82296" cy="82296"/>
          </a:xfrm>
          <a:prstGeom prst="rect">
            <a:avLst/>
          </a:prstGeom>
          <a:solidFill>
            <a:srgbClr val="4A4A4A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86968" y="3273552"/>
            <a:ext cx="445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86968" y="3273552"/>
            <a:ext cx="445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نورة العتيبي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86968" y="3529584"/>
            <a:ext cx="445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إضافة «احتياطي الطوارئ»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" y="374904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← 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3200" y="4023360"/>
            <a:ext cx="82296" cy="82296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" y="3950208"/>
            <a:ext cx="4459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DISBURSE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886968" y="3950208"/>
            <a:ext cx="445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نورة العتيبي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86968" y="4206240"/>
            <a:ext cx="44590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توزيع مخصصات الفرق لشهر أغسطس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" y="44256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1,200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86968" y="4681728"/>
            <a:ext cx="473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يوجد في التطبيق أي مسار لتعديل هذا السجل أو حذفه.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 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جرّبه الآن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ثلاثة حسابات تجريبية جاهزة، وكلمة المرور واحدة للجميع.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1701" y="1938528"/>
            <a:ext cx="3503066" cy="155448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6021" y="2176272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TREASURER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396021" y="2505456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نورة العتيبي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396021" y="2962656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treasurer@monolith.demo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4314" y="1938528"/>
            <a:ext cx="3503066" cy="155448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8634" y="2176272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18634" y="2505456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عبدالرحمن القحطاني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18634" y="2962656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founder@monolith.demo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6928" y="1938528"/>
            <a:ext cx="3503066" cy="155448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2176272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505456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ريم الدوسري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2962656"/>
            <a:ext cx="29544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member@monolith.demo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3813048"/>
            <a:ext cx="11057839" cy="960120"/>
          </a:xfrm>
          <a:prstGeom prst="rect">
            <a:avLst/>
          </a:prstGeom>
          <a:solidFill>
            <a:srgbClr val="0D0D0D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412394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المرور الموحّدة للعرض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224528" y="40873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monolith2026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047488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IT LOCALLY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" y="5340096"/>
            <a:ext cx="11057839" cy="914400"/>
          </a:xfrm>
          <a:prstGeom prst="rect">
            <a:avLst/>
          </a:prstGeom>
          <a:solidFill>
            <a:srgbClr val="0D0D0D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5522976"/>
            <a:ext cx="1032631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   →    npm run dev    →    http://localhost:3000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1148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LIMITS  ·  READ THIS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58368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3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لا يفعله مونوليث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298448"/>
            <a:ext cx="110578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الحدود مكتوبة هنا كما هي مكتوبة داخل التطبيق نفسه.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1701" y="1938528"/>
            <a:ext cx="3503066" cy="228600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396021" y="2212848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BANK LINK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8396021" y="2560320"/>
            <a:ext cx="29544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ربط مصرفي فعلي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396021" y="3072384"/>
            <a:ext cx="29544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المزامنة تُحاكي بنية البيانات فقط. لا اتصال بساما ولا بأي بنك أو مزوّد خدمة.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4314" y="1938528"/>
            <a:ext cx="3503066" cy="228600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8634" y="2212848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AI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618634" y="2560320"/>
            <a:ext cx="29544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التوقّع ليس ذكاءً اصطناعيًا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618634" y="3072384"/>
            <a:ext cx="29544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انحدار خطي بسيط على الأشهر المكتملة. يوضّح اتجاهًا، ولا يَعِد بنتيجة.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1938528"/>
            <a:ext cx="3503066" cy="2286000"/>
          </a:xfrm>
          <a:prstGeom prst="rect">
            <a:avLst/>
          </a:prstGeom>
          <a:solidFill>
            <a:srgbClr val="151515"/>
          </a:solidFill>
          <a:ln w="12700">
            <a:solidFill>
              <a:srgbClr val="32323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41248" y="2212848"/>
            <a:ext cx="29544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FFB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DATA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2560320"/>
            <a:ext cx="29544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العرض تُستبدل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072384"/>
            <a:ext cx="29544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النسخة المنشورة تُعيد تحميل بيانات العرض عند كل إعادة تشغيل. للاحتفاظ بالبيانات يلزم قرص دائم.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66928" y="4498848"/>
            <a:ext cx="11057839" cy="868680"/>
          </a:xfrm>
          <a:prstGeom prst="rect">
            <a:avLst/>
          </a:prstGeom>
          <a:solidFill>
            <a:srgbClr val="0D0D0D"/>
          </a:solidFill>
          <a:ln w="12700">
            <a:solidFill>
              <a:srgbClr val="4A4A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32688" y="4727448"/>
            <a:ext cx="103263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الصدق في الوصف جزء من المنتج: التطبيق لا يدّعي في أي شاشة أكثر مما يفعله فعلًا.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7527" y="1965960"/>
            <a:ext cx="77724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93399" y="2168042"/>
            <a:ext cx="85496" cy="373075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3017520"/>
            <a:ext cx="1105783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5200" b="1" dirty="0">
                <a:solidFill>
                  <a:srgbClr val="F5F5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مونوليث</a:t>
            </a:r>
            <a:endParaRPr lang="en-US" sz="5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39776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B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يملك ماذا، وأين ذهب كل ريال، ومن وافق على ذلك ومتى.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4937760"/>
            <a:ext cx="11057839" cy="0"/>
          </a:xfrm>
          <a:prstGeom prst="line">
            <a:avLst/>
          </a:prstGeom>
          <a:noFill/>
          <a:ln w="12700">
            <a:solidFill>
              <a:srgbClr val="32323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512064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00" kern="0" dirty="0">
                <a:solidFill>
                  <a:srgbClr val="6E6E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MONOLITH  ·  V0.1  ·  DEMO BUILD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مونوليث — دليل الاستخدام</dc:title>
  <dc:subject>PptxGenJS Presentation</dc:subject>
  <dc:creator>Monolith</dc:creator>
  <cp:lastModifiedBy>Monolith</cp:lastModifiedBy>
  <cp:revision>1</cp:revision>
  <dcterms:created xsi:type="dcterms:W3CDTF">2026-09-10T13:30:35Z</dcterms:created>
  <dcterms:modified xsi:type="dcterms:W3CDTF">2026-09-10T13:30:35Z</dcterms:modified>
</cp:coreProperties>
</file>